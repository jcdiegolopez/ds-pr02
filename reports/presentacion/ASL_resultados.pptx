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5b3735c4a2b4c00" Type="http://schemas.openxmlformats.org/officeDocument/2006/relationships/extended-properties" Target="docProps/app.xml"/><Relationship Id="R5db7c510c6264a58" Type="http://schemas.openxmlformats.org/officeDocument/2006/relationships/officeDocument" Target="ppt/presentation.xml"/><Relationship Id="R9a33b5aa63d14a5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d64ef676a041e7"/>
  </p:sldMasterIdLst>
  <p:notesMasterIdLst>
    <p:notesMasterId xmlns:r="http://schemas.openxmlformats.org/officeDocument/2006/relationships" r:id="R791a0f927804486f"/>
  </p:notesMasterIdLst>
  <p:sldIdLst>
    <p:sldId xmlns:r="http://schemas.openxmlformats.org/officeDocument/2006/relationships" id="256" r:id="R6f5be0512de54a89"/>
    <p:sldId xmlns:r="http://schemas.openxmlformats.org/officeDocument/2006/relationships" id="257" r:id="Re7e6cfa628aa445a"/>
    <p:sldId xmlns:ns0="http://schemas.openxmlformats.org/officeDocument/2006/relationships" id="268" ns0:id="rId18"/>
    <p:sldId xmlns:r="http://schemas.openxmlformats.org/officeDocument/2006/relationships" id="258" r:id="R64342c7cc16c45fb"/>
    <p:sldId xmlns:r="http://schemas.openxmlformats.org/officeDocument/2006/relationships" id="259" r:id="R7f4473f455994e10"/>
    <p:sldId xmlns:r="http://schemas.openxmlformats.org/officeDocument/2006/relationships" id="260" r:id="R74fd125bad1c4c8a"/>
    <p:sldId xmlns:ns0="http://schemas.openxmlformats.org/officeDocument/2006/relationships" id="269" ns0:id="rId19"/>
    <p:sldId xmlns:r="http://schemas.openxmlformats.org/officeDocument/2006/relationships" id="261" r:id="R07ea4ad381194311"/>
    <p:sldId xmlns:ns0="http://schemas.openxmlformats.org/officeDocument/2006/relationships" id="270" ns0:id="rId20"/>
    <p:sldId xmlns:r="http://schemas.openxmlformats.org/officeDocument/2006/relationships" id="262" r:id="R92fb3a88a3804479"/>
    <p:sldId xmlns:ns0="http://schemas.openxmlformats.org/officeDocument/2006/relationships" id="271" ns0:id="rId21"/>
    <p:sldId xmlns:r="http://schemas.openxmlformats.org/officeDocument/2006/relationships" id="263" r:id="Rf00543037f154d2b"/>
    <p:sldId xmlns:r="http://schemas.openxmlformats.org/officeDocument/2006/relationships" id="264" r:id="Re78d874622154973"/>
    <p:sldId xmlns:r="http://schemas.openxmlformats.org/officeDocument/2006/relationships" id="265" r:id="Rb2288f38f9c142ac"/>
    <p:sldId xmlns:r="http://schemas.openxmlformats.org/officeDocument/2006/relationships" id="266" r:id="R29829527670c4f84"/>
    <p:sldId xmlns:r="http://schemas.openxmlformats.org/officeDocument/2006/relationships" id="267" r:id="Rcff7ee45f3df46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ea4ad381194311" Type="http://schemas.openxmlformats.org/officeDocument/2006/relationships/slide" Target="slides/slide6.xml"/><Relationship Id="R29829527670c4f84" Type="http://schemas.openxmlformats.org/officeDocument/2006/relationships/slide" Target="slides/slide11.xml"/><Relationship Id="R2c18ae549b1a4310" Type="http://schemas.openxmlformats.org/officeDocument/2006/relationships/tableStyles" Target="tableStyles.xml"/><Relationship Id="R5b533bdd19ca45a7" Type="http://schemas.openxmlformats.org/officeDocument/2006/relationships/theme" Target="theme/theme1.xml"/><Relationship Id="R64342c7cc16c45fb" Type="http://schemas.openxmlformats.org/officeDocument/2006/relationships/slide" Target="slides/slide3.xml"/><Relationship Id="R6f5be0512de54a89" Type="http://schemas.openxmlformats.org/officeDocument/2006/relationships/slide" Target="slides/slide1.xml"/><Relationship Id="R74fd125bad1c4c8a" Type="http://schemas.openxmlformats.org/officeDocument/2006/relationships/slide" Target="slides/slide5.xml"/><Relationship Id="R791a0f927804486f" Type="http://schemas.openxmlformats.org/officeDocument/2006/relationships/notesMaster" Target="notesMasters/notesMaster1.xml"/><Relationship Id="R7f4473f455994e10" Type="http://schemas.openxmlformats.org/officeDocument/2006/relationships/slide" Target="slides/slide4.xml"/><Relationship Id="R86d19e8bed774b61" Type="http://schemas.openxmlformats.org/officeDocument/2006/relationships/presProps" Target="presProps.xml"/><Relationship Id="R92fb3a88a3804479" Type="http://schemas.openxmlformats.org/officeDocument/2006/relationships/slide" Target="slides/slide7.xml"/><Relationship Id="Rb2288f38f9c142ac" Type="http://schemas.openxmlformats.org/officeDocument/2006/relationships/slide" Target="slides/slide10.xml"/><Relationship Id="Rcff7ee45f3df46dc" Type="http://schemas.openxmlformats.org/officeDocument/2006/relationships/slide" Target="slides/slide12.xml"/><Relationship Id="Re3d64ef676a041e7" Type="http://schemas.openxmlformats.org/officeDocument/2006/relationships/slideMaster" Target="slideMasters/slideMaster1.xml"/><Relationship Id="Re78d874622154973" Type="http://schemas.openxmlformats.org/officeDocument/2006/relationships/slide" Target="slides/slide9.xml"/><Relationship Id="Re7e6cfa628aa445a" Type="http://schemas.openxmlformats.org/officeDocument/2006/relationships/slide" Target="slides/slide2.xml"/><Relationship Id="Rf00543037f154d2b" Type="http://schemas.openxmlformats.org/officeDocument/2006/relationships/slide" Target="slides/slide8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ad0ec69f2a5e43f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c640a1f9ffe4ee9" Type="http://schemas.openxmlformats.org/officeDocument/2006/relationships/slide" Target="../slides/slide1.xml"/><Relationship Id="Rc0f87211fd464da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2d200e6c1ef4c3d" Type="http://schemas.openxmlformats.org/officeDocument/2006/relationships/slide" Target="../slides/slide2.xml"/><Relationship Id="Rac29f8a35956441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85e1eb3fee24889" Type="http://schemas.openxmlformats.org/officeDocument/2006/relationships/notesMaster" Target="../notesMasters/notesMaster1.xml"/><Relationship Id="Re0e41f6296404166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5e1c147c7cd47b8" Type="http://schemas.openxmlformats.org/officeDocument/2006/relationships/notesMaster" Target="../notesMasters/notesMaster1.xml"/><Relationship Id="R5075906a21e7464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326d18635484d93" Type="http://schemas.openxmlformats.org/officeDocument/2006/relationships/slide" Target="../slides/slide5.xml"/><Relationship Id="Rdb03457802b049e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e36dc7ad4f2547d8" Type="http://schemas.openxmlformats.org/officeDocument/2006/relationships/notesMaster" Target="../notesMasters/notesMaster1.xml"/><Relationship Id="Rf922393d6a7c499e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d9527705b1dd409d" Type="http://schemas.openxmlformats.org/officeDocument/2006/relationships/slide" Target="../slides/slide7.xml"/><Relationship Id="Rec6923c0d1784f6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863d2900ba446a4" Type="http://schemas.openxmlformats.org/officeDocument/2006/relationships/slide" Target="../slides/slide8.xml"/><Relationship Id="R96a487430a3144b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309059abc5349d2" Type="http://schemas.openxmlformats.org/officeDocument/2006/relationships/notesMaster" Target="../notesMasters/notesMaster1.xml"/><Relationship Id="Re16c537a7eaa4fc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693362ce420468d" Type="http://schemas.openxmlformats.org/officeDocument/2006/relationships/notesMaster" Target="../notesMasters/notesMaster1.xml"/><Relationship Id="Ra263df941866435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5ae73435db9c480c" Type="http://schemas.openxmlformats.org/officeDocument/2006/relationships/slide" Target="../slides/slide11.xml"/><Relationship Id="Rc5554765bd244c5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0733994bf0e43ab" Type="http://schemas.openxmlformats.org/officeDocument/2006/relationships/slide" Target="../slides/slide12.xml"/><Relationship Id="R1c5b84eb30f0431c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proyecto y demostración de la app. Las cifras salen de models/metrics.json (evaluación en prueba de los tres modelos entrenados en Kaggle).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src/preprocessing.py, src/tokenizer.py y src/models.py. Explicar que la entrada ya son coordenadas MediaPipe. La app no interpreta videos ni webcam. El modelo transcribe deletreo; no traduce todo el lenguaje de señas.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src/preprocessing.py. 80 características: 63 de mano activa, 2 de muñeca, 14 de pose y 1 indicador de la otra mano. La máscara elimina frames inválidos antes de la inferencia. Izquierda reflejada para homogeneizar lateralidad.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app/lib/data.py y data/train.csv. Semilla 42, proporciones objetivo 80/10/10. La gráfica describe participantes del corpus original. Los conteos de validación de M1 son menores porque el modelado aplica filtros de calidad y longitud.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src/models.py. Las tres arquitecturas comparten entrada (80 características), salida (60 símbolos con blank) y pérdida CTC; solo cambia el codificador temporal. Pesos finales en models/.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models/metrics.json, split test, 4 181 frases de 10 participantes no vistos. NED es el promedio por frase; CER divide errores totales entre caracteres totales. Puntaje de la competencia 1 − CER = 0,784.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models/metrics.json, by_character_type en prueba. Son omisiones y sustituciones sobre los caracteres de referencia; las inserciones se cuentan aparte. Las letras son lo más frecuente y aun así fallan más que dígitos y símbolos. Los espacios no tienen seña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app/views/explorar.py y reports/capturas/explorar.png. Vista por defecto de 30 muestras limpias; opción adicional para corpus original. Mostrar distribución de caracteres, longitudes, cobertura por mano y trayectoria normalizada. No extrapolar estadísticas de las muestras al corpus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app/views/predecir.py. Demo: secuencia 109-580-5359. M1 da 109-580-5355 (una sustitución), M2 omite el último dígito y M3 acierta. Es un ejemplo; en el total de prueba M1 es el mejor.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reports/app_paleta.md; https://jfly.uni-koeln.de/color/; https://www.w3.org/TR/WCAG22/; https://www.brailleinstitute.org/freefont/. Paleta categórica para modelos, escala acromática para presencia binaria. Nombres, contornos y subrayados evitan depender solo del color. Los valores de contraste se calculan con luminancia relativa sRGB.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app/views/rendimiento.py. Comparación de los tres modelos en prueba desde metrics.json, gráficas que se ocultan y botón para medir latencia en esta CPU (no recalcula test).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Límites: espacios (27 % de error en M1, 45 % en M2 y M3), M3 sin converger en 15 épocas, búsqueda de hiperparámetros reducida por el presupuesto de GPU. Siguiente: aumento de datos, modelo de lenguaje y Conformer.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informe, sección 6.1. Los seis objetivos específicos se cumplieron.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models/search_results.csv y models/final_training.json. Búsqueda: 8 configuraciones, 3 épocas sobre 5 000 secuencias; se eligió la de menor distancia de edición en validación. En los tres ganó la versión con más capacidad.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models/metrics.json (prueba) y final_training.json. ms por secuencia medidos por lotes en GPU. M3 seguía mejorando en la última época: no convergió con 15 épocas.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informe, secciones 6.2 y 6.3. 0,217 significa que, en promedio, uno de cada cinco caracteres necesita corrección: sirve para demostrar el enfoque, no para uso diario sin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b115a9e80f734c9d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7ee6714ffcc846bd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c497d33ac4040df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a4d7987fef2d4bec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990d5823959341c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26c4dbe5ae23441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D8241A-22F5-4B42-AAD5-CF502FEE43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6E318B-C4CD-4B8D-9AB2-7974417E53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74BD60-0BD5-4496-A093-EE975CF86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EABC35-938A-40B2-9A1F-9DDC648C0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4588A7-0D39-4559-B4D4-3919EA3B8F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86A0A3-85F5-4412-A9A2-0C1AA814A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27B7FB-EDF6-40F9-989E-5B7CB086BB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24C0DF-36DE-4CF9-A927-8A31805B43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C350AE-51B7-46FB-8E7E-E0AEAFD3A5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0B5533-FD84-4D6B-9A1E-E4F85492D2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02f2412fbf3440c" Type="http://schemas.openxmlformats.org/officeDocument/2006/relationships/theme" Target="theme/theme2.xml"/><Relationship Id="R215a743659544b45" Type="http://schemas.openxmlformats.org/officeDocument/2006/relationships/slideLayout" Target="../slideLayouts/slideLayout5.xml"/><Relationship Id="R3370b8ea5fa9497b" Type="http://schemas.openxmlformats.org/officeDocument/2006/relationships/slideLayout" Target="../slideLayouts/slideLayout2.xml"/><Relationship Id="R4881f0e8e0a14bca" Type="http://schemas.openxmlformats.org/officeDocument/2006/relationships/slideLayout" Target="../slideLayouts/slideLayout6.xml"/><Relationship Id="R612556b95458470e" Type="http://schemas.openxmlformats.org/officeDocument/2006/relationships/slideLayout" Target="../slideLayouts/slideLayout4.xml"/><Relationship Id="R967ee92e7e2948af" Type="http://schemas.openxmlformats.org/officeDocument/2006/relationships/slideLayout" Target="../slideLayouts/slideLayout3.xml"/><Relationship Id="Re719e222e517406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19e222e517406f"/>
    <p:sldLayoutId xmlns:r="http://schemas.openxmlformats.org/officeDocument/2006/relationships" id="2147483650" r:id="R3370b8ea5fa9497b"/>
    <p:sldLayoutId xmlns:r="http://schemas.openxmlformats.org/officeDocument/2006/relationships" id="2147483651" r:id="R967ee92e7e2948af"/>
    <p:sldLayoutId xmlns:r="http://schemas.openxmlformats.org/officeDocument/2006/relationships" id="2147483652" r:id="R612556b95458470e"/>
    <p:sldLayoutId xmlns:r="http://schemas.openxmlformats.org/officeDocument/2006/relationships" id="2147483653" r:id="R215a743659544b45"/>
    <p:sldLayoutId xmlns:r="http://schemas.openxmlformats.org/officeDocument/2006/relationships" id="2147483654" r:id="R4881f0e8e0a14b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93dd93b526b4e51" Type="http://schemas.openxmlformats.org/officeDocument/2006/relationships/notesSlide" Target="../notesSlides/notesSlide1.xml"/><Relationship Id="Rc1e39913e56c4784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7e0c325ce89a4117" Type="http://schemas.openxmlformats.org/officeDocument/2006/relationships/notesSlide" Target="../notesSlides/notesSlide2.xml"/><Relationship Id="Rcf25319a906f446a" Type="http://schemas.openxmlformats.org/officeDocument/2006/relationships/image" Target="../media/image.png"/><Relationship Id="Rd973779b0fa8445c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7aa498883e8e48c4" Type="http://schemas.openxmlformats.org/officeDocument/2006/relationships/slideLayout" Target="../slideLayouts/slideLayout6.xml"/><Relationship Id="Ree64dc095d724e2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35855b671f249a6" Type="http://schemas.openxmlformats.org/officeDocument/2006/relationships/slideLayout" Target="../slideLayouts/slideLayout6.xml"/><Relationship Id="R2a5dab95b27e4c33" Type="http://schemas.openxmlformats.org/officeDocument/2006/relationships/chart" Target="charts/chart1.xml"/><Relationship Id="R3f57212a171448e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61514763dee44f4" Type="http://schemas.openxmlformats.org/officeDocument/2006/relationships/notesSlide" Target="../notesSlides/notesSlide5.xml"/><Relationship Id="R4f3a7dccd2044f4f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702bc8f0bcb44273" Type="http://schemas.openxmlformats.org/officeDocument/2006/relationships/notesSlide" Target="../notesSlides/notesSlide6.xml"/><Relationship Id="R7525e52f9fd0486e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1ec1884f703a4f87" Type="http://schemas.openxmlformats.org/officeDocument/2006/relationships/slideLayout" Target="../slideLayouts/slideLayout6.xml"/><Relationship Id="R7e3338a0aa9a4e0e" Type="http://schemas.openxmlformats.org/officeDocument/2006/relationships/chart" Target="charts/chart2.xml"/><Relationship Id="Rfaafeffa3ee9422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547be25fb324f94" Type="http://schemas.openxmlformats.org/officeDocument/2006/relationships/notesSlide" Target="../notesSlides/notesSlide8.xml"/><Relationship Id="R7ea996f2198c4964" Type="http://schemas.openxmlformats.org/officeDocument/2006/relationships/slideLayout" Target="../slideLayouts/slideLayout6.xml"/><Relationship Id="R92db8be05dac4c7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6f50311931574b42" Type="http://schemas.openxmlformats.org/officeDocument/2006/relationships/notesSlide" Target="../notesSlides/notesSlide9.xml"/><Relationship Id="Rd2609116766f4289" Type="http://schemas.openxmlformats.org/officeDocument/2006/relationships/slideLayout" Target="../slideLayouts/slideLayout6.xml"/><Relationship Id="Re86e4da963bc4ff8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395640f9523b418a" Type="http://schemas.openxmlformats.org/officeDocument/2006/relationships/slideLayout" Target="../slideLayouts/slideLayout6.xml"/><Relationship Id="Rbd2a893bfac14cf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e4b0f53823142ad" Type="http://schemas.openxmlformats.org/officeDocument/2006/relationships/image" Target="../media/image4.png"/><Relationship Id="R96d135c0a7ce4867" Type="http://schemas.openxmlformats.org/officeDocument/2006/relationships/notesSlide" Target="../notesSlides/notesSlide11.xml"/><Relationship Id="Rcfd4d829284645aa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7ffe0ed4328c40f1" Type="http://schemas.openxmlformats.org/officeDocument/2006/relationships/slideLayout" Target="../slideLayouts/slideLayout6.xml"/><Relationship Id="Radf019a8f69b46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Participantes</c:v>
          </c:tx>
          <c:spPr>
            <a:solidFill xmlns:a="http://schemas.openxmlformats.org/drawingml/2006/main">
              <a:srgbClr val="E69F00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Entrenamiento</c:v>
                </c:pt>
                <c:pt idx="1">
                  <c:v>Validación</c:v>
                </c:pt>
                <c:pt idx="2">
                  <c:v>Prueba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75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1121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Participantes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 BiGRU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</c:spPr>
          <c:invertIfNegative val="0"/>
          <c:dLbls>
            <c:numFmt formatCode="0%" sourceLinked="0"/>
            <c:txPr xmlns:a="http://schemas.openxmlformats.org/drawingml/2006/main">
              <a:bodyPr/>
              <a:lstStyle/>
              <a:p>
                <a:pPr>
                  <a:defRPr sz="12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Letras</c:v>
                </c:pt>
                <c:pt idx="1">
                  <c:v>Dígitos</c:v>
                </c:pt>
                <c:pt idx="2">
                  <c:v>Símbolos</c:v>
                </c:pt>
                <c:pt idx="3">
                  <c:v>Espacios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0.194</c:v>
                </c:pt>
                <c:pt idx="1">
                  <c:v>0.165</c:v>
                </c:pt>
                <c:pt idx="2">
                  <c:v>0.178</c:v>
                </c:pt>
                <c:pt idx="3">
                  <c:v>0.272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 TCN</c:v>
                </c:pt>
              </c:strCache>
            </c:strRef>
          </c:tx>
          <c:spPr>
            <a:solidFill xmlns:a="http://schemas.openxmlformats.org/drawingml/2006/main">
              <a:srgbClr val="56B4E9"/>
            </a:solidFill>
          </c:spPr>
          <c:invertIfNegative val="0"/>
          <c:dLbls>
            <c:numFmt formatCode="0%" sourceLinked="0"/>
            <c:txPr xmlns:a="http://schemas.openxmlformats.org/drawingml/2006/main">
              <a:bodyPr/>
              <a:lstStyle/>
              <a:p>
                <a:pPr>
                  <a:defRPr sz="12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Letras</c:v>
                </c:pt>
                <c:pt idx="1">
                  <c:v>Dígitos</c:v>
                </c:pt>
                <c:pt idx="2">
                  <c:v>Símbolos</c:v>
                </c:pt>
                <c:pt idx="3">
                  <c:v>Espacios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0.224</c:v>
                </c:pt>
                <c:pt idx="1">
                  <c:v>0.202</c:v>
                </c:pt>
                <c:pt idx="2">
                  <c:v>0.218</c:v>
                </c:pt>
                <c:pt idx="3">
                  <c:v>0.455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M3 Transformer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</c:spPr>
          <c:invertIfNegative val="0"/>
          <c:dLbls>
            <c:numFmt formatCode="0%" sourceLinked="0"/>
            <c:txPr xmlns:a="http://schemas.openxmlformats.org/drawingml/2006/main">
              <a:bodyPr/>
              <a:lstStyle/>
              <a:p>
                <a:pPr>
                  <a:defRPr sz="12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Letras</c:v>
                </c:pt>
                <c:pt idx="1">
                  <c:v>Dígitos</c:v>
                </c:pt>
                <c:pt idx="2">
                  <c:v>Símbolos</c:v>
                </c:pt>
                <c:pt idx="3">
                  <c:v>Espacios</c:v>
                </c:pt>
              </c:strCache>
            </c:strRef>
          </c:cat>
          <c:val>
            <c:numRef>
              <c:f>Sheet1!$D$2:$D$5</c:f>
              <c:numCache>
                <c:formatCode>0.0%</c:formatCode>
                <c:ptCount val="4"/>
                <c:pt idx="0">
                  <c:v>0.232</c:v>
                </c:pt>
                <c:pt idx="1">
                  <c:v>0.199</c:v>
                </c:pt>
                <c:pt idx="2">
                  <c:v>0.229</c:v>
                </c:pt>
                <c:pt idx="3">
                  <c:v>0.452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1121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Omisiones y sustituciones / caracteres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legend>
      <c:overlay val="0"/>
      <c:txPr xmlns:a="http://schemas.openxmlformats.org/drawingml/2006/main">
        <a:bodyPr/>
        <a:lstStyle/>
        <a:p>
          <a:pPr>
            <a:defRPr sz="1400"/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35BC5-4162-4513-9E1C-962642B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0E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0E4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E442"/>
                </a:solidFill>
                <a:latin typeface="Arial"/>
                <a:ea typeface="Arial"/>
                <a:cs typeface="Arial"/>
              </a:rPr>
              <a:t>DELETREO MANUAL DE ASL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9463F-6652-4392-BC21-1BB7F57F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5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5F5F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5F5F0"/>
                </a:solidFill>
                <a:latin typeface="Arial"/>
                <a:ea typeface="Arial"/>
                <a:cs typeface="Arial"/>
              </a:rPr>
              <a:t>Reconocimiento</a:t>
            </a:r>
          </a:p>
          <a:p xmlns:a="http://schemas.openxmlformats.org/drawingml/2006/main">
            <a:pPr>
              <a:defRPr sz="5700" b="1">
                <a:solidFill>
                  <a:srgbClr val="F5F5F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5F5F0"/>
                </a:solidFill>
                <a:latin typeface="Arial"/>
                <a:ea typeface="Arial"/>
                <a:cs typeface="Arial"/>
              </a:rPr>
              <a:t>de secuencias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D7350-03F6-4420-B231-0F31976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5F5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5F5F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5F0"/>
                </a:solidFill>
                <a:latin typeface="Arial"/>
                <a:ea typeface="Arial"/>
                <a:cs typeface="Arial"/>
              </a:rPr>
              <a:t>Resultados y demostración de la aplicación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ACDF0-28A9-45BD-92D3-C7FDE765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BFB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DBFB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DBFBA"/>
                </a:solidFill>
                <a:latin typeface="Arial"/>
                <a:ea typeface="Arial"/>
                <a:cs typeface="Arial"/>
              </a:rPr>
              <a:t>CC3084 Data Science · Proyecto 2</a:t>
            </a:r>
          </a:p>
          <a:p xmlns:a="http://schemas.openxmlformats.org/drawingml/2006/main">
            <a:pPr>
              <a:defRPr sz="1800" b="0">
                <a:solidFill>
                  <a:srgbClr val="BDBFB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DBFBA"/>
                </a:solidFill>
                <a:latin typeface="Arial"/>
                <a:ea typeface="Arial"/>
                <a:cs typeface="Arial"/>
              </a:rPr>
              <a:t>12 de octubre de 2026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47700" y="4600000"/>
            <a:ext cx="10287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F5F5F0"/>
                </a:solidFill>
                <a:latin typeface="Arial"/>
              </a:rPr>
              <a:t>Diego José López Campos 23242 · Luis González 23353 · Diego Rosales 23258</a:t>
            </a:r>
          </a:p>
        </p:txBody>
      </p:sp>
    </p:spTree>
    <p:extLst>
      <p:ext uri="{BB962C8B-B14F-4D97-AF65-F5344CB8AC3E}">
        <p14:creationId xmlns:p14="http://schemas.microsoft.com/office/powerpoint/2010/main" val="615166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E518B-0B9B-41A0-9706-73A5DD64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Secuencias de landmarks a 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04376-F3D8-40DD-8979-A6773EE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04675-14A4-4DD1-8CD9-ECCDFA00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28A47-61EE-433E-AC43-2AA9CEE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Entrada: coordenadas de manos y pose por frame.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ACA1F-6A42-489F-9A62-5B1F006F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Salida: una frase completa de longitud variable.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AAF9E-7C94-4893-A694-4DEC2825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CTC permite aprender sin etiquetas de cada letra por frame.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EC2E4-7719-4AB8-82C9-68E2D5FE2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5319a906f446a"/>
          <a:stretch xmlns:a="http://schemas.openxmlformats.org/drawingml/2006/main"/>
        </p:blipFill>
        <p:spPr>
          <a:xfrm xmlns:a="http://schemas.openxmlformats.org/drawingml/2006/main">
            <a:off x="7762875" y="2497748"/>
            <a:ext cx="3619500" cy="23387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259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8D8A9-41A3-436B-BF27-C664A765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Limpieza compartida con el entrenamiento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787AD-F60E-499B-8B71-B1B48BD0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60613-21D3-4238-8B46-AAD2FE46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35E80-204D-4470-B525-451DAEC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01  Selección de canales y mano activa; reflexión de la izquierda.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FA0E1-3E17-4D87-8744-CD1EAFE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02  Invalidación de picos, recorte e interpolación de huecos ≤ 5 frames.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412B0-7009-4E17-8C41-8699831B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03  Normalización por muñeca, palma y hombros; máscara de validez.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3A20D-6DEC-42CE-B659-7B096687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80 características por frame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609600" y="5131700"/>
            <a:ext cx="10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55585C"/>
                </a:solidFill>
                <a:latin typeface="Arial"/>
              </a:rPr>
              <a:t>63 de la mano activa · 2 de la muñeca · 14 de pose · 1 de la otra mano.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55585C"/>
                </a:solidFill>
                <a:latin typeface="Arial"/>
              </a:rPr>
              <a:t>Sin la cara: el deletreo está en la mano. Normalizar quita la posición y el tamaño de cada persona.</a:t>
            </a:r>
          </a:p>
        </p:txBody>
      </p:sp>
    </p:spTree>
    <p:extLst>
      <p:ext uri="{BB962C8B-B14F-4D97-AF65-F5344CB8AC3E}">
        <p14:creationId xmlns:p14="http://schemas.microsoft.com/office/powerpoint/2010/main" val="1769421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D536A-64A6-4D99-91E3-E3C6D35C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Partición por participante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A2453-5FF8-4D25-B323-2EF66CB8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F896F-F8E1-4177-8727-ACC0B96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7D5507C-6C6E-4D18-BC5F-AD36FA460370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7000875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5dab95b27e4c3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B34AA-BBDD-4784-AA27-354B2FA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0250"/>
            <a:ext cx="3381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67 208 frases</a:t>
            </a:r>
          </a:p>
          <a:p xmlns:a="http://schemas.openxmlformats.org/drawingml/2006/main">
            <a:pPr>
              <a:defRPr sz="28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94 participantes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5F75C-D6A2-4346-970D-04F632CA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62375"/>
            <a:ext cx="3286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Los firmantes de prueba quedan fuera del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1262063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C0C5B-88A8-4B4D-9EDB-48822A8D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Tres arquitecturas con la misma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16C09-F0DD-4B18-A8E9-47394239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440C3-482F-43B1-B2A2-F07301C8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1E72F-3451-467F-A754-355CFD51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M1 · BiGRU: codificador recurrente bidireccional + CTC.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235B0-4E29-4112-B998-CDFD816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M2 · TCN: convoluciones temporales dilatadas + CTC.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955CA-EE76-4758-90B3-F41752F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M3 · Transformer: autoatención temporal + CTC.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DA97D-75D0-418F-9442-ADA52398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Disponibles en la demo: M1, M2 y M3.</a:t>
            </a:r>
          </a:p>
          <a:p xmlns:a="http://schemas.openxmlformats.org/drawingml/2006/main">
            <a:pPr>
              <a:defRPr sz="2025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Mejor en prueba: M1. Más eficiente: M2.</a:t>
            </a:r>
          </a:p>
        </p:txBody>
      </p:sp>
    </p:spTree>
    <p:extLst>
      <p:ext uri="{BB962C8B-B14F-4D97-AF65-F5344CB8AC3E}">
        <p14:creationId xmlns:p14="http://schemas.microsoft.com/office/powerpoint/2010/main" val="1366389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D9BB7-4C50-4717-8D3D-9513C34F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Resultados en prueba: M1 BiGRU es el mejor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58386-1FB8-4B79-9753-3EF1E925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0AB29-DC83-450B-9ED1-4209BF37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94FA8-B7A0-4183-92C8-63C1B1F1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0,217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D0A2D-EA0F-4423-B512-F4BFC137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Distancia de edición normalizada · M1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0764A-52C0-476D-A792-9FB92B0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76425"/>
            <a:ext cx="3810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CER  0,216</a:t>
            </a:r>
          </a:p>
          <a:p xmlns:a="http://schemas.openxmlformats.org/drawingml/2006/main">
            <a:pPr>
              <a:defRPr sz="25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Frase exacta  10,9 %</a:t>
            </a:r>
          </a:p>
          <a:p xmlns:a="http://schemas.openxmlformats.org/drawingml/2006/main">
            <a:pPr>
              <a:defRPr sz="255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1,67 M parámetros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91D77-804F-43D6-8585-018FB7C0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4 181 frases de prueba · 10 participantes no vistos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45D98-3A80-41D7-831A-A6AD4768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M2 TCN: 0,247 con la mitad del tiempo · M3 Transformer: 0,256, aún mejorando</a:t>
            </a:r>
          </a:p>
        </p:txBody>
      </p:sp>
    </p:spTree>
    <p:extLst>
      <p:ext uri="{BB962C8B-B14F-4D97-AF65-F5344CB8AC3E}">
        <p14:creationId xmlns:p14="http://schemas.microsoft.com/office/powerpoint/2010/main" val="678203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1DC1E-DC24-4705-9205-765E4682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Los espacios presentan el mayor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6AC1E-7D62-4013-9033-F1D4433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441FA-C3F8-4A27-A2F3-586745AB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224C223-CA48-4148-A2E5-007FD08FC4BC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76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3338a0aa9a4e0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5993F-CCA8-4261-87DD-727A2DBB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La frecuencia del carácter no basta para explicar todos los errores.</a:t>
            </a:r>
          </a:p>
        </p:txBody>
      </p:sp>
    </p:spTree>
    <p:extLst>
      <p:ext uri="{BB962C8B-B14F-4D97-AF65-F5344CB8AC3E}">
        <p14:creationId xmlns:p14="http://schemas.microsoft.com/office/powerpoint/2010/main" val="1576557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378CD-E0AD-4FB7-A704-1091E50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Explorar los datos y su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E462A-4228-4E6D-AD4A-886E616D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1FD63-AA4C-48C2-B642-53ECAF03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255BB-411C-43F9-B5C4-31905C88E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b8be05dac4c75"/>
          <a:stretch xmlns:a="http://schemas.openxmlformats.org/drawingml/2006/main"/>
        </p:blipFill>
        <p:spPr>
          <a:xfrm xmlns:a="http://schemas.openxmlformats.org/drawingml/2006/main">
            <a:off x="1227773" y="1571625"/>
            <a:ext cx="624078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8EB3B-F217-447A-A419-7C17C49C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952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Muestras limpias y corpus original identificados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Cobertura, trayectoria y esqueleto de una secuencia.</a:t>
            </a:r>
          </a:p>
        </p:txBody>
      </p:sp>
    </p:spTree>
    <p:extLst>
      <p:ext uri="{BB962C8B-B14F-4D97-AF65-F5344CB8AC3E}">
        <p14:creationId xmlns:p14="http://schemas.microsoft.com/office/powerpoint/2010/main" val="1637983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3A037-FFBC-4F1E-A5C4-37B5A5B2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Predicción sobre una secuencia cruda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CD9F2-91C3-42DE-87BC-5D6D6DF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BD25F-F7A5-4EB0-917B-63757B0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6D357-194A-4157-9286-72D8F68BC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e4da963bc4ff8"/>
          <a:stretch xmlns:a="http://schemas.openxmlformats.org/drawingml/2006/main"/>
        </p:blipFill>
        <p:spPr>
          <a:xfrm xmlns:a="http://schemas.openxmlformats.org/drawingml/2006/main">
            <a:off x="1264920" y="1571625"/>
            <a:ext cx="630936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A5BCC-FCA0-46A8-A913-C57DF985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62125"/>
            <a:ext cx="29051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Muestra incluida o archivo CSV / Parquet.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Selección de modelos, animación y contraste con la frase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Resultados descargables.</a:t>
            </a:r>
          </a:p>
        </p:txBody>
      </p:sp>
    </p:spTree>
    <p:extLst>
      <p:ext uri="{BB962C8B-B14F-4D97-AF65-F5344CB8AC3E}">
        <p14:creationId xmlns:p14="http://schemas.microsoft.com/office/powerpoint/2010/main" val="1217163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2CF8F-93A5-4FC1-A4F8-C5AF95D9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Color y legibilidad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C2995-A277-4C24-B57E-FAAC5818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24F97-7CEC-495F-A745-9C107922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88653-3413-440C-9FDE-8F7E750B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715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Neutros de alto contraste y subtítulos claros sobre negro.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E9108-A9B4-44B9-8813-E7023948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715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Colores categóricos constantes: M1 naranja, M2 azul, M3 verde.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E7E5D-683E-42C2-9F60-5A2748B3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715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Nombres, contornos y marcas de error complementan el color.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2276C-B914-4332-841D-672230EB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7156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Fuentes Atkinson Hyperlegible incluidas para funcionar sin internet.</a:t>
            </a:r>
          </a:p>
        </p:txBody>
      </p:sp>
    </p:spTree>
    <p:extLst>
      <p:ext uri="{BB962C8B-B14F-4D97-AF65-F5344CB8AC3E}">
        <p14:creationId xmlns:p14="http://schemas.microsoft.com/office/powerpoint/2010/main" val="388891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FF352-DDB4-4455-B4E0-D63D0FF4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Rendimiento y costo en la misma máquina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87000-16EF-451D-A37F-4CC83807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E7C19-6D34-4DC2-9187-73C812F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13A89-A8AA-4B34-93BC-FD1E3C85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62125"/>
            <a:ext cx="2952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Gráficas que se pueden ocultar.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Error por categoría y curvas de entrenamiento.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Medición de CPU con calentamiento, sin recalcular test.</a:t>
            </a:r>
          </a:p>
        </p:txBody>
      </p:sp>
      <p:pic xmlns:a="http://schemas.openxmlformats.org/drawingml/2006/main" xmlns:r="http://schemas.openxmlformats.org/officeDocument/2006/relationships">
        <p:nvPicPr>
          <p:cNvPr id="7" name="Picture 6" descr="rendimi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346" y="1562100"/>
            <a:ext cx="6013738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990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EF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DBE26-F431-4655-91B8-5484E345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Límites y siguiente paso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B8229-1A27-43B8-A897-BFE137A7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EC0D4-8446-40DD-B19D-B4BEAC6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0469C-5AD4-4A94-8DD6-5D73A44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Demo: elegir una muestra, reproducir la mano y revisar el subtítulo.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03BD7-4849-4F8C-A2C6-4108BD60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Respaldo: video de la app por si falla la demo en vivo.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C8DCA-2C5A-479D-A2DA-FA6FACE0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213"/>
                </a:solidFill>
                <a:latin typeface="Arial"/>
                <a:ea typeface="Arial"/>
                <a:cs typeface="Arial"/>
              </a:rPr>
              <a:t>Límites: los espacios (27 % de error en M1) y M3 sin converger en 15 épocas.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4AAFD-30D5-4D00-934A-610BBE0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Siguiente: aumento de datos y modelo de lenguaje.</a:t>
            </a:r>
          </a:p>
        </p:txBody>
      </p:sp>
    </p:spTree>
    <p:extLst>
      <p:ext uri="{BB962C8B-B14F-4D97-AF65-F5344CB8AC3E}">
        <p14:creationId xmlns:p14="http://schemas.microsoft.com/office/powerpoint/2010/main" val="1028044050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C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5F0C0C5B-88A8-4B4D-9EDB-48822A8DAFA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6CF16C09-F0DD-4B18-A8E9-4739423997C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E3440C3-482F-43B1-B2A2-F07301C84FD6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600000"/>
            <a:ext cx="10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11213"/>
                </a:solidFill>
                <a:latin typeface="Arial"/>
              </a:rPr>
              <a:t>General: </a:t>
            </a:r>
            <a:r>
              <a:rPr sz="2400" b="0">
                <a:solidFill>
                  <a:srgbClr val="111213"/>
                </a:solidFill>
                <a:latin typeface="Arial"/>
              </a:rPr>
              <a:t>transcribir a texto el deletreo manual de ASL a partir de landmarks.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600000"/>
            <a:ext cx="109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1. Un solo preprocesamiento para entrenar y para la app.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2. Separar los datos por persona, para evaluar con gente nueva.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3. Entrenar tres modelos CTC con el corpus completo.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4. Compararlos con métricas de error y de costo.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5. Relacionar los errores con el análisis exploratorio.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6. Una app que prediga y muestre los resultados.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C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5F0C0C5B-88A8-4B4D-9EDB-48822A8DAFA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Hiperparámetros y métricas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6CF16C09-F0DD-4B18-A8E9-4739423997C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E3440C3-482F-43B1-B2A2-F07301C84FD6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1550000"/>
          <a:ext cx="10972800" cy="192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00000"/>
                <a:gridCol w="4372800"/>
                <a:gridCol w="1900000"/>
                <a:gridCol w="2300000"/>
              </a:tblGrid>
              <a:tr h="48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55585C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55585C"/>
                          </a:solidFill>
                          <a:latin typeface="Arial"/>
                        </a:rPr>
                        <a:t>Configuración elegida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55585C"/>
                          </a:solidFill>
                          <a:latin typeface="Arial"/>
                        </a:rPr>
                        <a:t>Parámetros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55585C"/>
                          </a:solidFill>
                          <a:latin typeface="Arial"/>
                        </a:rPr>
                        <a:t>Tasa de aprendizaje</a:t>
                      </a:r>
                    </a:p>
                  </a:txBody>
                  <a:tcPr marL="70000" marR="70000">
                    <a:noFill/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E69F00"/>
                          </a:solidFill>
                          <a:latin typeface="Arial"/>
                        </a:rPr>
                        <a:t>M1 BiGRU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192 unidades · 3 capas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1,67 M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0,001</a:t>
                      </a:r>
                    </a:p>
                  </a:txBody>
                  <a:tcPr marL="70000" marR="70000">
                    <a:noFill/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56B4E9"/>
                          </a:solidFill>
                          <a:latin typeface="Arial"/>
                        </a:rPr>
                        <a:t>M2 TCN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192 canales · 6 niveles · kernel 5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1,14 M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0,001</a:t>
                      </a:r>
                    </a:p>
                  </a:txBody>
                  <a:tcPr marL="70000" marR="70000">
                    <a:noFill/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09E73"/>
                          </a:solidFill>
                          <a:latin typeface="Arial"/>
                        </a:rPr>
                        <a:t>M3 Transformer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d = 192 · 4 capas · 4 cabezas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1,22 M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11213"/>
                          </a:solidFill>
                          <a:latin typeface="Arial"/>
                        </a:rPr>
                        <a:t>0,0005</a:t>
                      </a:r>
                    </a:p>
                  </a:txBody>
                  <a:tcPr marL="70000" marR="70000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3900000"/>
            <a:ext cx="109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11213"/>
                </a:solidFill>
                <a:latin typeface="Arial"/>
              </a:rPr>
              <a:t>Igual para los tres: </a:t>
            </a:r>
            <a:r>
              <a:rPr sz="1900" b="0">
                <a:solidFill>
                  <a:srgbClr val="111213"/>
                </a:solidFill>
                <a:latin typeface="Arial"/>
              </a:rPr>
              <a:t>AdamW, lotes de 32, hasta 15 épocas, parada temprana de 3, GPU T4.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11213"/>
                </a:solidFill>
                <a:latin typeface="Arial"/>
              </a:rPr>
              <a:t>Métrica principal: </a:t>
            </a:r>
            <a:r>
              <a:rPr sz="1900" b="0">
                <a:solidFill>
                  <a:srgbClr val="111213"/>
                </a:solidFill>
                <a:latin typeface="Arial"/>
              </a:rPr>
              <a:t>distancia de edición normalizada (menor es mejor).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11213"/>
                </a:solidFill>
                <a:latin typeface="Arial"/>
              </a:rPr>
              <a:t>También: </a:t>
            </a:r>
            <a:r>
              <a:rPr sz="1900" b="0">
                <a:solidFill>
                  <a:srgbClr val="111213"/>
                </a:solidFill>
                <a:latin typeface="Arial"/>
              </a:rPr>
              <a:t>CER, frases exactas, error por tipo de carácter y tiempo.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C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5F0C0C5B-88A8-4B4D-9EDB-48822A8DAFA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Comparación de los tres modelos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6CF16C09-F0DD-4B18-A8E9-4739423997C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E3440C3-482F-43B1-B2A2-F07301C84FD6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" y="1600000"/>
          <a:ext cx="10972800" cy="192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00000"/>
                <a:gridCol w="2372800"/>
                <a:gridCol w="1700000"/>
                <a:gridCol w="2200000"/>
                <a:gridCol w="2000000"/>
              </a:tblGrid>
              <a:tr h="480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55585C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55585C"/>
                          </a:solidFill>
                          <a:latin typeface="Arial"/>
                        </a:rPr>
                        <a:t>Distancia edición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55585C"/>
                          </a:solidFill>
                          <a:latin typeface="Arial"/>
                        </a:rPr>
                        <a:t>CER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55585C"/>
                          </a:solidFill>
                          <a:latin typeface="Arial"/>
                        </a:rPr>
                        <a:t>Frases exactas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55585C"/>
                          </a:solidFill>
                          <a:latin typeface="Arial"/>
                        </a:rPr>
                        <a:t>Entrenamiento</a:t>
                      </a:r>
                    </a:p>
                  </a:txBody>
                  <a:tcPr marL="70000" marR="70000">
                    <a:noFill/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E69F00"/>
                          </a:solidFill>
                          <a:latin typeface="Arial"/>
                        </a:rPr>
                        <a:t>M1 BiGRU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0,217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0,216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10,9 %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21 min</a:t>
                      </a:r>
                    </a:p>
                  </a:txBody>
                  <a:tcPr marL="70000" marR="70000">
                    <a:noFill/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56B4E9"/>
                          </a:solidFill>
                          <a:latin typeface="Arial"/>
                        </a:rPr>
                        <a:t>M2 TCN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0,247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0,247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8,1 %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11 min</a:t>
                      </a:r>
                    </a:p>
                  </a:txBody>
                  <a:tcPr marL="70000" marR="70000">
                    <a:noFill/>
                  </a:tcPr>
                </a:tc>
              </a:tr>
              <a:tr h="480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9E73"/>
                          </a:solidFill>
                          <a:latin typeface="Arial"/>
                        </a:rPr>
                        <a:t>M3 Transformer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0,256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0,257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5,6 %</a:t>
                      </a:r>
                    </a:p>
                  </a:txBody>
                  <a:tcPr marL="70000" marR="7000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11213"/>
                          </a:solidFill>
                          <a:latin typeface="Arial"/>
                        </a:rPr>
                        <a:t>24 min</a:t>
                      </a:r>
                    </a:p>
                  </a:txBody>
                  <a:tcPr marL="70000" marR="70000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100000"/>
            <a:ext cx="109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E69F00"/>
                </a:solidFill>
                <a:latin typeface="Arial"/>
              </a:rPr>
              <a:t>M1 </a:t>
            </a:r>
            <a:r>
              <a:rPr sz="2100" b="0">
                <a:solidFill>
                  <a:srgbClr val="111213"/>
                </a:solidFill>
                <a:latin typeface="Arial"/>
              </a:rPr>
              <a:t>acierta más.  </a:t>
            </a:r>
            <a:r>
              <a:rPr sz="2100" b="1">
                <a:solidFill>
                  <a:srgbClr val="56B4E9"/>
                </a:solidFill>
                <a:latin typeface="Arial"/>
              </a:rPr>
              <a:t>M2 </a:t>
            </a:r>
            <a:r>
              <a:rPr sz="2100" b="0">
                <a:solidFill>
                  <a:srgbClr val="111213"/>
                </a:solidFill>
                <a:latin typeface="Arial"/>
              </a:rPr>
              <a:t>es el más rápido.  </a:t>
            </a:r>
            <a:r>
              <a:rPr sz="2100" b="1">
                <a:solidFill>
                  <a:srgbClr val="009E73"/>
                </a:solidFill>
                <a:latin typeface="Arial"/>
              </a:rPr>
              <a:t>M3 </a:t>
            </a:r>
            <a:r>
              <a:rPr sz="2100" b="0">
                <a:solidFill>
                  <a:srgbClr val="111213"/>
                </a:solidFill>
                <a:latin typeface="Arial"/>
              </a:rPr>
              <a:t>necesitaba más épocas.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Menor es mejor en distancia de edición y CER.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FEC"/>
        </a:solidFill>
      </p:bgPr>
    </p:bg>
    <p:spTree>
      <p:nvGrpSpPr>
        <p:cNvPr id="1" name=""/>
        <p:cNvGrpSpPr/>
        <p:nvPr/>
      </p:nvGrpSpPr>
      <p:grpSpPr/>
      <p:sp>
        <p:nvSpPr>
          <p:cNvPr id="8" name="">
            <a:extLst>
              <a:ext uri="{FF2B5EF4-FFF2-40B4-BE49-F238E27FC236}">
                <a16:creationId xmlns:a16="http://schemas.microsoft.com/office/drawing/2014/main" id="{5F0C0C5B-88A8-4B4D-9EDB-48822A8DAFA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450" b="1">
                <a:solidFill>
                  <a:srgbClr val="11121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213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6CF16C09-F0DD-4B18-A8E9-4739423997C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71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CC3084 · Reconocimiento de deletreo manual de ASL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E3440C3-482F-43B1-B2A2-F07301C84FD6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5558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85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600000"/>
            <a:ext cx="109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CTC funciona: se entrena sin saber dónde empieza cada letra.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M1 BiGRU es el mejor y el que recomendamos para la app.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M2 TCN da casi lo mismo con la mitad del tiempo.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El error más grande está en los espacios, no en las letras raras.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Separar por persona dio una evaluación honesta: gente que el modelo nunca vio.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11213"/>
                </a:solidFill>
                <a:latin typeface="Arial"/>
              </a:rPr>
              <a:t>Hoy falla 1 de cada 5 caracteres: falta aumento de datos y un modelo de lenguaje.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2026-10-12T06:50:21.4030000Z</dcterms:created>
  <dcterms:modified xsi:type="dcterms:W3CDTF">2026-10-12T06:50:21.4030000Z</dcterms:modified>
</coreProperties>
</file>