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33b5aa63d14a57" /><Relationship Type="http://schemas.openxmlformats.org/officeDocument/2006/relationships/extended-properties" Target="/docProps/app.xml" Id="R35b3735c4a2b4c00" /><Relationship Type="http://schemas.openxmlformats.org/officeDocument/2006/relationships/officeDocument" Target="/ppt/presentation.xml" Id="R5db7c510c6264a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d64ef676a041e7"/>
  </p:sldMasterIdLst>
  <p:notesMasterIdLst>
    <p:notesMasterId xmlns:r="http://schemas.openxmlformats.org/officeDocument/2006/relationships" r:id="R791a0f927804486f"/>
  </p:notesMasterIdLst>
  <p:sldIdLst>
    <p:sldId xmlns:r="http://schemas.openxmlformats.org/officeDocument/2006/relationships" id="256" r:id="R6f5be0512de54a89"/>
    <p:sldId xmlns:r="http://schemas.openxmlformats.org/officeDocument/2006/relationships" id="257" r:id="Re7e6cfa628aa445a"/>
    <p:sldId xmlns:r="http://schemas.openxmlformats.org/officeDocument/2006/relationships" id="258" r:id="R64342c7cc16c45fb"/>
    <p:sldId xmlns:r="http://schemas.openxmlformats.org/officeDocument/2006/relationships" id="259" r:id="R7f4473f455994e10"/>
    <p:sldId xmlns:r="http://schemas.openxmlformats.org/officeDocument/2006/relationships" id="260" r:id="R74fd125bad1c4c8a"/>
    <p:sldId xmlns:r="http://schemas.openxmlformats.org/officeDocument/2006/relationships" id="261" r:id="R07ea4ad381194311"/>
    <p:sldId xmlns:r="http://schemas.openxmlformats.org/officeDocument/2006/relationships" id="262" r:id="R92fb3a88a3804479"/>
    <p:sldId xmlns:r="http://schemas.openxmlformats.org/officeDocument/2006/relationships" id="263" r:id="Rf00543037f154d2b"/>
    <p:sldId xmlns:r="http://schemas.openxmlformats.org/officeDocument/2006/relationships" id="264" r:id="Re78d874622154973"/>
    <p:sldId xmlns:r="http://schemas.openxmlformats.org/officeDocument/2006/relationships" id="265" r:id="Rb2288f38f9c142ac"/>
    <p:sldId xmlns:r="http://schemas.openxmlformats.org/officeDocument/2006/relationships" id="266" r:id="R29829527670c4f84"/>
    <p:sldId xmlns:r="http://schemas.openxmlformats.org/officeDocument/2006/relationships" id="267" r:id="Rcff7ee45f3df46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533bdd19ca45a7" /><Relationship Type="http://schemas.openxmlformats.org/officeDocument/2006/relationships/slideMaster" Target="/ppt/slideMasters/slideMaster1.xml" Id="Re3d64ef676a041e7" /><Relationship Type="http://schemas.openxmlformats.org/officeDocument/2006/relationships/notesMaster" Target="/ppt/notesMasters/notesMaster1.xml" Id="R791a0f927804486f" /><Relationship Type="http://schemas.openxmlformats.org/officeDocument/2006/relationships/presProps" Target="/ppt/presProps.xml" Id="R86d19e8bed774b61" /><Relationship Type="http://schemas.openxmlformats.org/officeDocument/2006/relationships/tableStyles" Target="/ppt/tableStyles.xml" Id="R2c18ae549b1a4310" /><Relationship Type="http://schemas.openxmlformats.org/officeDocument/2006/relationships/slide" Target="/ppt/slides/slide1.xml" Id="R6f5be0512de54a89" /><Relationship Type="http://schemas.openxmlformats.org/officeDocument/2006/relationships/slide" Target="/ppt/slides/slide2.xml" Id="Re7e6cfa628aa445a" /><Relationship Type="http://schemas.openxmlformats.org/officeDocument/2006/relationships/slide" Target="/ppt/slides/slide3.xml" Id="R64342c7cc16c45fb" /><Relationship Type="http://schemas.openxmlformats.org/officeDocument/2006/relationships/slide" Target="/ppt/slides/slide4.xml" Id="R7f4473f455994e10" /><Relationship Type="http://schemas.openxmlformats.org/officeDocument/2006/relationships/slide" Target="/ppt/slides/slide5.xml" Id="R74fd125bad1c4c8a" /><Relationship Type="http://schemas.openxmlformats.org/officeDocument/2006/relationships/slide" Target="/ppt/slides/slide6.xml" Id="R07ea4ad381194311" /><Relationship Type="http://schemas.openxmlformats.org/officeDocument/2006/relationships/slide" Target="/ppt/slides/slide7.xml" Id="R92fb3a88a3804479" /><Relationship Type="http://schemas.openxmlformats.org/officeDocument/2006/relationships/slide" Target="/ppt/slides/slide8.xml" Id="Rf00543037f154d2b" /><Relationship Type="http://schemas.openxmlformats.org/officeDocument/2006/relationships/slide" Target="/ppt/slides/slide9.xml" Id="Re78d874622154973" /><Relationship Type="http://schemas.openxmlformats.org/officeDocument/2006/relationships/slide" Target="/ppt/slides/slide10.xml" Id="Rb2288f38f9c142ac" /><Relationship Type="http://schemas.openxmlformats.org/officeDocument/2006/relationships/slide" Target="/ppt/slides/slide11.xml" Id="R29829527670c4f84" /><Relationship Type="http://schemas.openxmlformats.org/officeDocument/2006/relationships/slide" Target="/ppt/slides/slide12.xml" Id="Rcff7ee45f3df46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0ec69f2a5e43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640a1f9ffe4ee9" /><Relationship Type="http://schemas.openxmlformats.org/officeDocument/2006/relationships/notesMaster" Target="/ppt/notesMasters/notesMaster1.xml" Id="Rc0f87211fd464d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d200e6c1ef4c3d" /><Relationship Type="http://schemas.openxmlformats.org/officeDocument/2006/relationships/notesMaster" Target="/ppt/notesMasters/notesMaster1.xml" Id="Rac29f8a3595644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e41f6296404166" /><Relationship Type="http://schemas.openxmlformats.org/officeDocument/2006/relationships/notesMaster" Target="/ppt/notesMasters/notesMaster1.xml" Id="Ra85e1eb3fee248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75906a21e74644" /><Relationship Type="http://schemas.openxmlformats.org/officeDocument/2006/relationships/notesMaster" Target="/ppt/notesMasters/notesMaster1.xml" Id="R05e1c147c7cd47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26d18635484d93" /><Relationship Type="http://schemas.openxmlformats.org/officeDocument/2006/relationships/notesMaster" Target="/ppt/notesMasters/notesMaster1.xml" Id="Rdb03457802b049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22393d6a7c499e" /><Relationship Type="http://schemas.openxmlformats.org/officeDocument/2006/relationships/notesMaster" Target="/ppt/notesMasters/notesMaster1.xml" Id="Re36dc7ad4f2547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527705b1dd409d" /><Relationship Type="http://schemas.openxmlformats.org/officeDocument/2006/relationships/notesMaster" Target="/ppt/notesMasters/notesMaster1.xml" Id="Rec6923c0d1784f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63d2900ba446a4" /><Relationship Type="http://schemas.openxmlformats.org/officeDocument/2006/relationships/notesMaster" Target="/ppt/notesMasters/notesMaster1.xml" Id="R96a487430a3144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6c537a7eaa4fc0" /><Relationship Type="http://schemas.openxmlformats.org/officeDocument/2006/relationships/notesMaster" Target="/ppt/notesMasters/notesMaster1.xml" Id="R3309059abc5349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63df9418664356" /><Relationship Type="http://schemas.openxmlformats.org/officeDocument/2006/relationships/notesMaster" Target="/ppt/notesMasters/notesMaster1.xml" Id="R1693362ce42046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e73435db9c480c" /><Relationship Type="http://schemas.openxmlformats.org/officeDocument/2006/relationships/notesMaster" Target="/ppt/notesMasters/notesMaster1.xml" Id="Rc5554765bd244c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733994bf0e43ab" /><Relationship Type="http://schemas.openxmlformats.org/officeDocument/2006/relationships/notesMaster" Target="/ppt/notesMasters/notesMaster1.xml" Id="R1c5b84eb30f043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del proyecto y de la app local. Las cifras siguientes corresponden a los artefactos presentes en models/metrics.json y al corpus en data/train.csv. No representan una comparación final de las tres arquitecturas.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src/preprocessing.py, src/tokenizer.py y src/models.py. Explicar que la entrada ya son coordenadas MediaPipe. La app no interpreta videos ni webcam. El modelo transcribe deletreo; no traduce todo el lenguaje de señas.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src/preprocessing.py. 80 características: 63 de mano activa, 2 de muñeca, 14 de pose y 1 indicador de la otra mano. La máscara elimina frames inválidos antes de la inferencia. Izquierda reflejada para homogeneizar lateralidad.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app/lib/data.py y data/train.csv. Semilla 42, proporciones objetivo 80/10/10. La gráfica describe participantes del corpus original. Los conteos de validación de M1 son menores porque el modelado aplica filtros de calidad y longitud.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src/models.py. Las arquitecturas M2 y M3 están implementadas, pero al preparar esta entrega no existen pesos ni métricas finales para ellas en models/. No mostrar modelos inicializados al azar como resultados.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models/metrics.json, entrada m1. Split val; 3857 secuencias; best_epoch=8. NED es promedio por frase, CER es distancia total entre caracteres totales. La validación sirve para selección del modelo y no sustituye 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models/metrics.json, by_character_type. Son omisiones y sustituciones entre referencias de la categoría; las inserciones se contabilizan aparte. El error por categoría no equivale al CER total.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app/views/explorar.py y reports/capturas/explorar.png. Vista por defecto de 30 muestras limpias; opción adicional para corpus original. Mostrar distribución de caracteres, longitudes, cobertura por mano y trayectoria normalizada. No extrapolar estadísticas de las muestras al corpus 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app/views/predecir.py y reports/capturas/predecir.png. Demo: secuencia 109-580-5359, resultado M1 109-580-5354; una sustitución, distancia 1/12=0.0833. La latencia es una medición de CPU que varía entre ejecuciones.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reports/app_paleta.md; https://jfly.uni-koeln.de/color/; https://www.w3.org/TR/WCAG22/; https://www.brailleinstitute.org/freefont/. Paleta categórica para modelos, escala acromática para presencia binaria. Nombres, contornos y subrayados evitan depender solo del color. Los valores de contraste se calculan con luminancia relativa sRGB.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app/views/rendimiento.py y reports/capturas/eficiencia.png. Mide inferencia y decodificación en CPU; excluye carga y limpieza, una llamada de calentamiento por modelo, promedio de las 30 muestras. Los 2.22 ms por secuencia de metrics.json son una referencia por lotes de otro entorno y no son directamente comparables con la latencia local.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Guion en reports/guion_demo.md. Video local de respaldo: reports/demo_app.mp4. Para la demostración: abrir app, seleccionar una muestra, reproducir, revisar error, explorar y medir CPU. La app reconoce deletreo de ASL y requiere landmarks; no extrae coordenadas desde video. M2/M3 y resultados de test siguen pendientes de sus artefactos finales.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15a9e80f734c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e6714ffcc846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497d33ac4040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7987fef2d4be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d5823959341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c4dbe5ae2344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D8241A-22F5-4B42-AAD5-CF502FEE43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6E318B-C4CD-4B8D-9AB2-7974417E53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F74BD60-0BD5-4496-A093-EE975CF864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5EABC35-938A-40B2-9A1F-9DDC648C06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4588A7-0D39-4559-B4D4-3919EA3B8F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986A0A3-85F5-4412-A9A2-0C1AA814A3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27B7FB-EDF6-40F9-989E-5B7CB086B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24C0DF-36DE-4CF9-A927-8A31805B43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C350AE-51B7-46FB-8E7E-E0AEAFD3A5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10B5533-FD84-4D6B-9A1E-E4F85492D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2f2412fbf3440c" /><Relationship Type="http://schemas.openxmlformats.org/officeDocument/2006/relationships/slideLayout" Target="/ppt/slideLayouts/slideLayout1.xml" Id="Re719e222e517406f" /><Relationship Type="http://schemas.openxmlformats.org/officeDocument/2006/relationships/slideLayout" Target="/ppt/slideLayouts/slideLayout2.xml" Id="R3370b8ea5fa9497b" /><Relationship Type="http://schemas.openxmlformats.org/officeDocument/2006/relationships/slideLayout" Target="/ppt/slideLayouts/slideLayout3.xml" Id="R967ee92e7e2948af" /><Relationship Type="http://schemas.openxmlformats.org/officeDocument/2006/relationships/slideLayout" Target="/ppt/slideLayouts/slideLayout4.xml" Id="R612556b95458470e" /><Relationship Type="http://schemas.openxmlformats.org/officeDocument/2006/relationships/slideLayout" Target="/ppt/slideLayouts/slideLayout5.xml" Id="R215a743659544b45" /><Relationship Type="http://schemas.openxmlformats.org/officeDocument/2006/relationships/slideLayout" Target="/ppt/slideLayouts/slideLayout6.xml" Id="R4881f0e8e0a14b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19e222e517406f"/>
    <p:sldLayoutId xmlns:r="http://schemas.openxmlformats.org/officeDocument/2006/relationships" id="2147483650" r:id="R3370b8ea5fa9497b"/>
    <p:sldLayoutId xmlns:r="http://schemas.openxmlformats.org/officeDocument/2006/relationships" id="2147483651" r:id="R967ee92e7e2948af"/>
    <p:sldLayoutId xmlns:r="http://schemas.openxmlformats.org/officeDocument/2006/relationships" id="2147483652" r:id="R612556b95458470e"/>
    <p:sldLayoutId xmlns:r="http://schemas.openxmlformats.org/officeDocument/2006/relationships" id="2147483653" r:id="R215a743659544b45"/>
    <p:sldLayoutId xmlns:r="http://schemas.openxmlformats.org/officeDocument/2006/relationships" id="2147483654" r:id="R4881f0e8e0a14b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e39913e56c4784" /><Relationship Type="http://schemas.openxmlformats.org/officeDocument/2006/relationships/notesSlide" Target="/ppt/notesSlides/notesSlide1.xml" Id="R993dd93b526b4e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73779b0fa8445c" /><Relationship Type="http://schemas.openxmlformats.org/officeDocument/2006/relationships/image" Target="/ppt/media/image.png" Id="Rcf25319a906f446a" /><Relationship Type="http://schemas.openxmlformats.org/officeDocument/2006/relationships/notesSlide" Target="/ppt/notesSlides/notesSlide2.xml" Id="R7e0c325ce89a41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a498883e8e48c4" /><Relationship Type="http://schemas.openxmlformats.org/officeDocument/2006/relationships/notesSlide" Target="/ppt/notesSlides/notesSlide3.xml" Id="Ree64dc095d724e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5855b671f249a6" /><Relationship Type="http://schemas.openxmlformats.org/officeDocument/2006/relationships/chart" Target="/ppt/slides/charts/chart1.xml" Id="R2a5dab95b27e4c33" /><Relationship Type="http://schemas.openxmlformats.org/officeDocument/2006/relationships/notesSlide" Target="/ppt/notesSlides/notesSlide4.xml" Id="R3f57212a171448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a7dccd2044f4f" /><Relationship Type="http://schemas.openxmlformats.org/officeDocument/2006/relationships/notesSlide" Target="/ppt/notesSlides/notesSlide5.xml" Id="R461514763dee44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25e52f9fd0486e" /><Relationship Type="http://schemas.openxmlformats.org/officeDocument/2006/relationships/notesSlide" Target="/ppt/notesSlides/notesSlide6.xml" Id="R702bc8f0bcb442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c1884f703a4f87" /><Relationship Type="http://schemas.openxmlformats.org/officeDocument/2006/relationships/chart" Target="/ppt/slides/charts/chart2.xml" Id="R7e3338a0aa9a4e0e" /><Relationship Type="http://schemas.openxmlformats.org/officeDocument/2006/relationships/notesSlide" Target="/ppt/notesSlides/notesSlide7.xml" Id="Rfaafeffa3ee942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a996f2198c4964" /><Relationship Type="http://schemas.openxmlformats.org/officeDocument/2006/relationships/image" Target="/ppt/media/image2.png" Id="R92db8be05dac4c75" /><Relationship Type="http://schemas.openxmlformats.org/officeDocument/2006/relationships/notesSlide" Target="/ppt/notesSlides/notesSlide8.xml" Id="R4547be25fb324f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609116766f4289" /><Relationship Type="http://schemas.openxmlformats.org/officeDocument/2006/relationships/image" Target="/ppt/media/image3.png" Id="Re86e4da963bc4ff8" /><Relationship Type="http://schemas.openxmlformats.org/officeDocument/2006/relationships/notesSlide" Target="/ppt/notesSlides/notesSlide9.xml" Id="R6f50311931574b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5640f9523b418a" /><Relationship Type="http://schemas.openxmlformats.org/officeDocument/2006/relationships/notesSlide" Target="/ppt/notesSlides/notesSlide10.xml" Id="Rbd2a893bfac14c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d4d829284645aa" /><Relationship Type="http://schemas.openxmlformats.org/officeDocument/2006/relationships/image" Target="/ppt/media/image4.png" Id="R3e4b0f53823142ad" /><Relationship Type="http://schemas.openxmlformats.org/officeDocument/2006/relationships/notesSlide" Target="/ppt/notesSlides/notesSlide11.xml" Id="R96d135c0a7ce48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fe0ed4328c40f1" /><Relationship Type="http://schemas.openxmlformats.org/officeDocument/2006/relationships/notesSlide" Target="/ppt/notesSlides/notesSlide12.xml" Id="Radf019a8f69b461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Participantes</c:v>
          </c:tx>
          <c:spPr>
            <a:solidFill xmlns:a="http://schemas.openxmlformats.org/drawingml/2006/main">
              <a:srgbClr val="E69F00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Entrenamiento</c:v>
                </c:pt>
                <c:pt idx="1">
                  <c:v>Validación</c:v>
                </c:pt>
                <c:pt idx="2">
                  <c:v>Prueba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75</c:v>
                </c:pt>
                <c:pt idx="1">
                  <c:v>9</c:v>
                </c:pt>
                <c:pt idx="2">
                  <c:v>10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11121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9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Participantes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5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Error por categoría</c:v>
          </c:tx>
          <c:spPr>
            <a:solidFill xmlns:a="http://schemas.openxmlformats.org/drawingml/2006/main">
              <a:srgbClr val="E69F00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Letras</c:v>
                </c:pt>
                <c:pt idx="1">
                  <c:v>Dígitos</c:v>
                </c:pt>
                <c:pt idx="2">
                  <c:v>Símbolos</c:v>
                </c:pt>
                <c:pt idx="3">
                  <c:v>Espacios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0.236221</c:v>
                </c:pt>
                <c:pt idx="1">
                  <c:v>0.176918</c:v>
                </c:pt>
                <c:pt idx="2">
                  <c:v>0.228106</c:v>
                </c:pt>
                <c:pt idx="3">
                  <c:v>0.434862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1121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5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Omisiones y sustituciones / caracteres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2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35BC5-4162-4513-9E1C-962642B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F0E44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F0E4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E442"/>
                </a:solidFill>
                <a:latin typeface="Arial"/>
                <a:ea typeface="Arial"/>
                <a:cs typeface="Arial"/>
              </a:rPr>
              <a:t>DELETREO MANUAL DE ASL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9463F-6652-4392-BC21-1BB7F57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47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F5F5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F5F5F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5F5F0"/>
                </a:solidFill>
                <a:latin typeface="Arial"/>
                <a:ea typeface="Arial"/>
                <a:cs typeface="Arial"/>
              </a:rPr>
              <a:t>Reconocimiento</a:t>
            </a:r>
          </a:p>
          <a:p xmlns:a="http://schemas.openxmlformats.org/drawingml/2006/main">
            <a:pPr>
              <a:defRPr sz="5700" b="1">
                <a:solidFill>
                  <a:srgbClr val="F5F5F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5F5F0"/>
                </a:solidFill>
                <a:latin typeface="Arial"/>
                <a:ea typeface="Arial"/>
                <a:cs typeface="Arial"/>
              </a:rPr>
              <a:t>de secuencias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D7350-03F6-4420-B231-0F319764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5F5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5F5F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5F5F0"/>
                </a:solidFill>
                <a:latin typeface="Arial"/>
                <a:ea typeface="Arial"/>
                <a:cs typeface="Arial"/>
              </a:rPr>
              <a:t>Resultados y demostración de la aplicación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ACDF0-28A9-45BD-92D3-C7FDE765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DBFB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BDBFB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DBFBA"/>
                </a:solidFill>
                <a:latin typeface="Arial"/>
                <a:ea typeface="Arial"/>
                <a:cs typeface="Arial"/>
              </a:rPr>
              <a:t>CC3084 Data Science · Proyecto 2</a:t>
            </a:r>
          </a:p>
          <a:p xmlns:a="http://schemas.openxmlformats.org/drawingml/2006/main">
            <a:pPr>
              <a:defRPr sz="1800" b="0">
                <a:solidFill>
                  <a:srgbClr val="BDBFB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DBFBA"/>
                </a:solidFill>
                <a:latin typeface="Arial"/>
                <a:ea typeface="Arial"/>
                <a:cs typeface="Arial"/>
              </a:rPr>
              <a:t>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6151667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E518B-0B9B-41A0-9706-73A5DD64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Secuencias de landmarks a texto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04376-F3D8-40DD-8979-A6773EE9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04675-14A4-4DD1-8CD9-ECCDFA00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28A47-61EE-433E-AC43-2AA9CEE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Entrada: coordenadas de manos y pose por frame.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ACA1F-6A42-489F-9A62-5B1F006F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Salida: una frase completa de longitud variable.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AAF9E-7C94-4893-A694-4DEC2825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CTC permite aprender sin etiquetas de cada letra por frame.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EC2E4-7719-4AB8-82C9-68E2D5FE2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5319a906f446a"/>
          <a:stretch xmlns:a="http://schemas.openxmlformats.org/drawingml/2006/main"/>
        </p:blipFill>
        <p:spPr>
          <a:xfrm xmlns:a="http://schemas.openxmlformats.org/drawingml/2006/main">
            <a:off x="7762875" y="2497748"/>
            <a:ext cx="3619500" cy="233875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825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8D8A9-41A3-436B-BF27-C664A765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Limpieza compartida con el entrenamiento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6787AD-F60E-499B-8B71-B1B48BD0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260613-21D3-4238-8B46-AAD2FE46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35E80-204D-4470-B525-451DAEC4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01  Selección de canales y mano activa; reflexión de la izquierda.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FA0E1-3E17-4D87-8744-CD1EAFED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02  Invalidación de picos, recorte e interpolación de huecos ≤ 5 frames.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412B0-7009-4E17-8C41-8699831B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03  Normalización por muñeca, palma y hombros; máscara de validez.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3A20D-6DEC-42CE-B659-7B096687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80 características por frame</a:t>
            </a:r>
          </a:p>
        </p:txBody>
      </p:sp>
    </p:spTree>
    <p:extLst>
      <p:ext uri="{BB962C8B-B14F-4D97-AF65-F5344CB8AC3E}">
        <p14:creationId xmlns:p14="http://schemas.microsoft.com/office/powerpoint/2010/main" val="1769421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D536A-64A6-4D99-91E3-E3C6D35C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Partición por participante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A2453-5FF8-4D25-B323-2EF66CB8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F896F-F8E1-4177-8727-ACC0B966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47D5507C-6C6E-4D18-BC5F-AD36FA460370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7000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5dab95b27e4c3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B34AA-BBDD-4784-AA27-354B2FA2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00250"/>
            <a:ext cx="33813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67,208 frases</a:t>
            </a:r>
          </a:p>
          <a:p xmlns:a="http://schemas.openxmlformats.org/drawingml/2006/main">
            <a: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94 participantes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5F75C-D6A2-4346-970D-04F632CA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762375"/>
            <a:ext cx="3286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Los firmantes de prueba quedan fuera del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12620637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C0C5B-88A8-4B4D-9EDB-48822A8D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Tres arquitecturas con la misma salida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16C09-F0DD-4B18-A8E9-4739423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440C3-482F-43B1-B2A2-F07301C8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1E72F-3451-467F-A754-355CFD51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M1 · BiGRU: codificador recurrente bidireccional + CTC.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235B0-4E29-4112-B998-CDFD816D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M2 · TCN: convoluciones temporales dilatadas + CTC.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955CA-EE76-4758-90B3-F41752F5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M3 · Transformer: autoatención temporal + CTC.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DA97D-75D0-418F-9442-ADA52398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Disponible para la demo: M1.</a:t>
            </a:r>
          </a:p>
          <a:p xmlns:a="http://schemas.openxmlformats.org/drawingml/2006/main">
            <a:pPr>
              <a:defRPr sz="2025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M2 y M3 se activan al incorporar sus checkpoints finales.</a:t>
            </a:r>
          </a:p>
        </p:txBody>
      </p:sp>
    </p:spTree>
    <p:extLst>
      <p:ext uri="{BB962C8B-B14F-4D97-AF65-F5344CB8AC3E}">
        <p14:creationId xmlns:p14="http://schemas.microsoft.com/office/powerpoint/2010/main" val="13663899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D9BB7-4C50-4717-8D3D-9513C34F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Resultados disponibles de BiGRU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58386-1FB8-4B79-9753-3EF1E925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0AB29-DC83-450B-9ED1-4209BF37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94FA8-B7A0-4183-92C8-63C1B1F1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1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0,2435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D0A2D-EA0F-4423-B512-F4BFC137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Distancia de edición normalizada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0764A-52C0-476D-A792-9FB92B0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76425"/>
            <a:ext cx="3810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CER  0,2425</a:t>
            </a:r>
          </a:p>
          <a:p xmlns:a="http://schemas.openxmlformats.org/drawingml/2006/main">
            <a: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Frase exacta  13,12 %</a:t>
            </a:r>
          </a:p>
          <a:p xmlns:a="http://schemas.openxmlformats.org/drawingml/2006/main">
            <a: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473 405 parámetros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91D77-804F-43D6-8585-018FB7C0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3 857 secuencias de validación · checkpoint de la época 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45D98-3A80-41D7-831A-A6AD4768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La evaluación final en test aún no está registrada en los artefactos locales.</a:t>
            </a:r>
          </a:p>
        </p:txBody>
      </p:sp>
    </p:spTree>
    <p:extLst>
      <p:ext uri="{BB962C8B-B14F-4D97-AF65-F5344CB8AC3E}">
        <p14:creationId xmlns:p14="http://schemas.microsoft.com/office/powerpoint/2010/main" val="6782032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1DC1E-DC24-4705-9205-765E4682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Los espacios presentan el mayor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6AC1E-7D62-4013-9033-F1D44330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441FA-C3F8-4A27-A2F3-586745AB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5224C223-CA48-4148-A2E5-007FD08FC4BC}"/>
              </a:ext>
            </a:extLst>
          </p:cNvPr>
          <p:cNvGraphicFramePr/>
          <p:nvPr/>
        </p:nvGraphicFramePr>
        <p:xfrm>
          <a:off xmlns:a="http://schemas.openxmlformats.org/drawingml/2006/main" x="609600" y="1552575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3338a0aa9a4e0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5993F-CCA8-4261-87DD-727A2DBB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La frecuencia del carácter no basta para explicar todos los errores.</a:t>
            </a:r>
          </a:p>
        </p:txBody>
      </p:sp>
    </p:spTree>
    <p:extLst>
      <p:ext uri="{BB962C8B-B14F-4D97-AF65-F5344CB8AC3E}">
        <p14:creationId xmlns:p14="http://schemas.microsoft.com/office/powerpoint/2010/main" val="1576557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378CD-E0AD-4FB7-A704-1091E50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Explorar los datos y su calidad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E462A-4228-4E6D-AD4A-886E616D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1FD63-AA4C-48C2-B642-53ECAF03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255BB-411C-43F9-B5C4-31905C88ED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b8be05dac4c75"/>
          <a:stretch xmlns:a="http://schemas.openxmlformats.org/drawingml/2006/main"/>
        </p:blipFill>
        <p:spPr>
          <a:xfrm xmlns:a="http://schemas.openxmlformats.org/drawingml/2006/main">
            <a:off x="1227773" y="1571625"/>
            <a:ext cx="6240780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8EB3B-F217-447A-A419-7C17C49C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9527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Muestras limpias y corpus original identificados por separado.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Cobertura, trayectoria y esqueleto de una secuencia.</a:t>
            </a:r>
          </a:p>
        </p:txBody>
      </p:sp>
    </p:spTree>
    <p:extLst>
      <p:ext uri="{BB962C8B-B14F-4D97-AF65-F5344CB8AC3E}">
        <p14:creationId xmlns:p14="http://schemas.microsoft.com/office/powerpoint/2010/main" val="16379830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3A037-FFBC-4F1E-A5C4-37B5A5B2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Predicción sobre una secuencia cruda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CD9F2-91C3-42DE-87BC-5D6D6DFC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BD25F-F7A5-4EB0-917B-63757B0D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6D357-194A-4157-9286-72D8F68BC6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e4da963bc4ff8"/>
          <a:stretch xmlns:a="http://schemas.openxmlformats.org/drawingml/2006/main"/>
        </p:blipFill>
        <p:spPr>
          <a:xfrm xmlns:a="http://schemas.openxmlformats.org/drawingml/2006/main">
            <a:off x="1264920" y="1571625"/>
            <a:ext cx="630936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A5BCC-FCA0-46A8-A913-C57DF985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62125"/>
            <a:ext cx="2905125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Muestra incluida o archivo CSV / Parquet.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Selección de modelos, animación y contraste con la frase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Resultados descargables.</a:t>
            </a:r>
          </a:p>
        </p:txBody>
      </p:sp>
    </p:spTree>
    <p:extLst>
      <p:ext uri="{BB962C8B-B14F-4D97-AF65-F5344CB8AC3E}">
        <p14:creationId xmlns:p14="http://schemas.microsoft.com/office/powerpoint/2010/main" val="12171634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42CF8F-93A5-4FC1-A4F8-C5AF95D9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Color y legibilidad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C2995-A277-4C24-B57E-FAAC5818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24F97-7CEC-495F-A745-9C107922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88653-3413-440C-9FDE-8F7E750B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Neutros de alto contraste y subtítulos claros sobre negro.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E9108-A9B4-44B9-8813-E702394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Colores categóricos constantes: M1 naranja, M2 azul, M3 verde.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E7E5D-683E-42C2-9F60-5A2748B3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Nombres, contornos y marcas de error complementan el color.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2276C-B914-4332-841D-672230EB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Fuentes Atkinson Hyperlegible incluidas para funcionar sin internet.</a:t>
            </a:r>
          </a:p>
        </p:txBody>
      </p:sp>
    </p:spTree>
    <p:extLst>
      <p:ext uri="{BB962C8B-B14F-4D97-AF65-F5344CB8AC3E}">
        <p14:creationId xmlns:p14="http://schemas.microsoft.com/office/powerpoint/2010/main" val="3888915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FF352-DDB4-4455-B4E0-D63D0FF4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Rendimiento y costo en la misma máquina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87000-16EF-451D-A37F-4CC83807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E7C19-6D34-4DC2-9187-73C812F2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8EF73-0D43-4222-8E22-491F4A9799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b0f53823142ad"/>
          <a:stretch xmlns:a="http://schemas.openxmlformats.org/drawingml/2006/main"/>
        </p:blipFill>
        <p:spPr>
          <a:xfrm xmlns:a="http://schemas.openxmlformats.org/drawingml/2006/main">
            <a:off x="1244346" y="1562100"/>
            <a:ext cx="6350508" cy="44100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13A89-A8AA-4B34-93BC-FD1E3C85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62125"/>
            <a:ext cx="295275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Gráficas que se pueden ocultar.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Error por categoría y curvas de entrenamiento.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Medición de CPU con calentamiento, sin recalcular test.</a:t>
            </a:r>
          </a:p>
        </p:txBody>
      </p:sp>
    </p:spTree>
    <p:extLst>
      <p:ext uri="{BB962C8B-B14F-4D97-AF65-F5344CB8AC3E}">
        <p14:creationId xmlns:p14="http://schemas.microsoft.com/office/powerpoint/2010/main" val="5901990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DBE26-F431-4655-91B8-5484E34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Demostración y límites actuales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B8229-1A27-43B8-A897-BFE137A7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CEC0D4-8446-40DD-B19D-B4BEAC6F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0469C-5AD4-4A94-8DD6-5D73A44B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Demo: elegir una muestra, reproducir la mano y revisar el subtítulo.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03BD7-4849-4F8C-A2C6-4108BD60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Respaldo: grabación local con predicción, exploración y rendimiento.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C8DCA-2C5A-479D-A2DA-FA6FACE0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Pendiente externo: pesos finales de M2/M3 y métricas finales de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4AAFD-30D5-4D00-934A-610BBE02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La app queda preparada para integrar los tres modelos.</a:t>
            </a:r>
          </a:p>
        </p:txBody>
      </p:sp>
    </p:spTree>
    <p:extLst>
      <p:ext uri="{BB962C8B-B14F-4D97-AF65-F5344CB8AC3E}">
        <p14:creationId xmlns:p14="http://schemas.microsoft.com/office/powerpoint/2010/main" val="1028044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2026-10-12T06:50:21.4030000Z</dcterms:created>
  <dcterms:modified xsi:type="dcterms:W3CDTF">2026-10-12T06:50:21.4030000Z</dcterms:modified>
</coreProperties>
</file>